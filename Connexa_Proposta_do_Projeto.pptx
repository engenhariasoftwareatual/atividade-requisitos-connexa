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1D669-2318-47BA-B78A-59B73C78F631}" v="1" dt="2026-08-17T20:29:09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10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Nunes" userId="d2d6f8d0cd5bfb05" providerId="LiveId" clId="{0D8895FE-1699-4C71-A1D9-3212A114EC1E}"/>
    <pc:docChg chg="undo custSel modSld">
      <pc:chgData name="Claudio Nunes" userId="d2d6f8d0cd5bfb05" providerId="LiveId" clId="{0D8895FE-1699-4C71-A1D9-3212A114EC1E}" dt="2026-08-17T20:32:29.562" v="62"/>
      <pc:docMkLst>
        <pc:docMk/>
      </pc:docMkLst>
      <pc:sldChg chg="modSp mod">
        <pc:chgData name="Claudio Nunes" userId="d2d6f8d0cd5bfb05" providerId="LiveId" clId="{0D8895FE-1699-4C71-A1D9-3212A114EC1E}" dt="2026-08-17T20:14:29.649" v="6" actId="14100"/>
        <pc:sldMkLst>
          <pc:docMk/>
          <pc:sldMk cId="0" sldId="277"/>
        </pc:sldMkLst>
        <pc:spChg chg="mod">
          <ac:chgData name="Claudio Nunes" userId="d2d6f8d0cd5bfb05" providerId="LiveId" clId="{0D8895FE-1699-4C71-A1D9-3212A114EC1E}" dt="2026-08-17T20:14:15.938" v="4" actId="14100"/>
          <ac:spMkLst>
            <pc:docMk/>
            <pc:sldMk cId="0" sldId="277"/>
            <ac:spMk id="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4:29.649" v="6" actId="14100"/>
          <ac:spMkLst>
            <pc:docMk/>
            <pc:sldMk cId="0" sldId="277"/>
            <ac:spMk id="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4:02.554" v="2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4:11.663" v="3" actId="107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Claudio Nunes" userId="d2d6f8d0cd5bfb05" providerId="LiveId" clId="{0D8895FE-1699-4C71-A1D9-3212A114EC1E}" dt="2026-08-17T20:32:29.562" v="62"/>
        <pc:sldMkLst>
          <pc:docMk/>
          <pc:sldMk cId="0" sldId="283"/>
        </pc:sldMkLst>
        <pc:spChg chg="mod">
          <ac:chgData name="Claudio Nunes" userId="d2d6f8d0cd5bfb05" providerId="LiveId" clId="{0D8895FE-1699-4C71-A1D9-3212A114EC1E}" dt="2026-08-17T20:32:09.291" v="14"/>
          <ac:spMkLst>
            <pc:docMk/>
            <pc:sldMk cId="0" sldId="283"/>
            <ac:spMk id="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1" v="15"/>
          <ac:spMkLst>
            <pc:docMk/>
            <pc:sldMk cId="0" sldId="283"/>
            <ac:spMk id="6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2" v="16"/>
          <ac:spMkLst>
            <pc:docMk/>
            <pc:sldMk cId="0" sldId="283"/>
            <ac:spMk id="7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0" v="53"/>
          <ac:spMkLst>
            <pc:docMk/>
            <pc:sldMk cId="0" sldId="283"/>
            <ac:spMk id="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0" v="54"/>
          <ac:spMkLst>
            <pc:docMk/>
            <pc:sldMk cId="0" sldId="283"/>
            <ac:spMk id="9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2" v="21"/>
          <ac:spMkLst>
            <pc:docMk/>
            <pc:sldMk cId="0" sldId="283"/>
            <ac:spMk id="10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3" v="22"/>
          <ac:spMkLst>
            <pc:docMk/>
            <pc:sldMk cId="0" sldId="283"/>
            <ac:spMk id="1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3" v="23"/>
          <ac:spMkLst>
            <pc:docMk/>
            <pc:sldMk cId="0" sldId="283"/>
            <ac:spMk id="12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5"/>
          <ac:spMkLst>
            <pc:docMk/>
            <pc:sldMk cId="0" sldId="283"/>
            <ac:spMk id="13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6"/>
          <ac:spMkLst>
            <pc:docMk/>
            <pc:sldMk cId="0" sldId="283"/>
            <ac:spMk id="14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3" v="28"/>
          <ac:spMkLst>
            <pc:docMk/>
            <pc:sldMk cId="0" sldId="283"/>
            <ac:spMk id="1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4" v="29"/>
          <ac:spMkLst>
            <pc:docMk/>
            <pc:sldMk cId="0" sldId="283"/>
            <ac:spMk id="16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4" v="30"/>
          <ac:spMkLst>
            <pc:docMk/>
            <pc:sldMk cId="0" sldId="283"/>
            <ac:spMk id="17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7"/>
          <ac:spMkLst>
            <pc:docMk/>
            <pc:sldMk cId="0" sldId="283"/>
            <ac:spMk id="1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8"/>
          <ac:spMkLst>
            <pc:docMk/>
            <pc:sldMk cId="0" sldId="283"/>
            <ac:spMk id="19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4" v="35"/>
          <ac:spMkLst>
            <pc:docMk/>
            <pc:sldMk cId="0" sldId="283"/>
            <ac:spMk id="20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5" v="36"/>
          <ac:spMkLst>
            <pc:docMk/>
            <pc:sldMk cId="0" sldId="283"/>
            <ac:spMk id="2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5" v="37"/>
          <ac:spMkLst>
            <pc:docMk/>
            <pc:sldMk cId="0" sldId="283"/>
            <ac:spMk id="22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9"/>
          <ac:spMkLst>
            <pc:docMk/>
            <pc:sldMk cId="0" sldId="283"/>
            <ac:spMk id="23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60"/>
          <ac:spMkLst>
            <pc:docMk/>
            <pc:sldMk cId="0" sldId="283"/>
            <ac:spMk id="24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5" v="42"/>
          <ac:spMkLst>
            <pc:docMk/>
            <pc:sldMk cId="0" sldId="283"/>
            <ac:spMk id="2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6" v="43"/>
          <ac:spMkLst>
            <pc:docMk/>
            <pc:sldMk cId="0" sldId="283"/>
            <ac:spMk id="26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6" v="44"/>
          <ac:spMkLst>
            <pc:docMk/>
            <pc:sldMk cId="0" sldId="283"/>
            <ac:spMk id="27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61"/>
          <ac:spMkLst>
            <pc:docMk/>
            <pc:sldMk cId="0" sldId="283"/>
            <ac:spMk id="2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2" v="62"/>
          <ac:spMkLst>
            <pc:docMk/>
            <pc:sldMk cId="0" sldId="283"/>
            <ac:spMk id="29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7" v="49"/>
          <ac:spMkLst>
            <pc:docMk/>
            <pc:sldMk cId="0" sldId="283"/>
            <ac:spMk id="30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7" v="50"/>
          <ac:spMkLst>
            <pc:docMk/>
            <pc:sldMk cId="0" sldId="283"/>
            <ac:spMk id="3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7" v="52"/>
          <ac:spMkLst>
            <pc:docMk/>
            <pc:sldMk cId="0" sldId="283"/>
            <ac:spMk id="32" creationId="{00000000-0000-0000-0000-000000000000}"/>
          </ac:spMkLst>
        </pc:spChg>
      </pc:sldChg>
      <pc:sldChg chg="modSp mod">
        <pc:chgData name="Claudio Nunes" userId="d2d6f8d0cd5bfb05" providerId="LiveId" clId="{0D8895FE-1699-4C71-A1D9-3212A114EC1E}" dt="2026-08-17T20:15:50.256" v="12" actId="6549"/>
        <pc:sldMkLst>
          <pc:docMk/>
          <pc:sldMk cId="0" sldId="287"/>
        </pc:sldMkLst>
        <pc:spChg chg="mod">
          <ac:chgData name="Claudio Nunes" userId="d2d6f8d0cd5bfb05" providerId="LiveId" clId="{0D8895FE-1699-4C71-A1D9-3212A114EC1E}" dt="2026-08-17T20:15:37.137" v="8" actId="20577"/>
          <ac:spMkLst>
            <pc:docMk/>
            <pc:sldMk cId="0" sldId="287"/>
            <ac:spMk id="2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5:50.256" v="12" actId="6549"/>
          <ac:spMkLst>
            <pc:docMk/>
            <pc:sldMk cId="0" sldId="28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08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documento é o briefing do cliente. Ele não contém requisitos: contém a situação a partir da qual os requisitos serão elicitados na Etapa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pelo problema, não pela solução. Nenhum slide desta parte descreve funcionalidade.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pelos dados reais da instituição, se disponíveis. Números concretos tornam a elicitação mais 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é a origem da meta quantificada que a equipe usará no Impact Map da Etapa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de elicitação por observação de processo. Peça que as equipes identifiquem onde o processo quebra.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Elicitação por análise documental. O que a planilha registra e o que ela abandonou são informações distintas e igualmente úteis.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a extrair da turma: o custo de manter a informação atualizada é o verdadeiro obstáculo.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depoimentos são consistentes entre si. As lacunas do briefing estão explicitadas na Parte 3, não escondidas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depoimento é a origem do nível "Meta" do Impact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o custo de oportunidade: horas de bolsa gastas em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Público prioritário segundo a coordenação. Vale mapear como ator no Impact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aparece a noção de compatibilidade que a equipe precisará definir com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Restrições, não desejos. Elas limitam o espaço de solução desde 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Tabela-síntese para consulta durante o Event Storming.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que delimita o espaço de trabalho. A seção final, de pontos em aberto, é a mais importante para a Etapa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visão orienta, não especifica. Ela deve caber em uma frase e ser lembrada sem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objetivos alimentam o nível "Por quê" do Impact Map. As entregas ainda não existem.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Territórios, não funcionalidades. Cada equipe escolherá onde aprofundar.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Laranja é semântico aqui: sinaliza limite, não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restrições eliminam alternativas de arquitetura e reaparecerão nos ADRs da Etapa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instituição delega a autenticação ao próprio sistema, mas mantém a exigência de vínculo comprovado. Guardar senha é responsabilidade técnica da equipe — retomado na Etapa 5, em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direto de LGPD. A minimização de dados é decisão de projeto, não detalhe jurídico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importante do documento para a Etapa 1. Deixe claro que a lacuna é do briefing, não distração do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operacional. Executar em sala, na primeira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equipes de cinco, o quinto integrante atua como revisor rotativo.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Pedir que cada equipe registre o próprio nome e o da organização antes de qualquer criação.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Executar em sala, com todos os integrantes presentes, para resolver problemas de acesso na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Organização criada com conta pessoal não fica ligada ao Microsoft Entra ID e impede, na Atividade de Sprint, a conexão do agente de IA com o Azure Boards. Resolver o bloqueio institucional antes de prosseguir.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é a escolha da disciplina por causa da hierarquia de work items. Basic não oferece o nível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 criação da hierarquia ao vivo, com um exemplo do Connexa.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Sem esse vínculo, a cadeia de rastreabilidade fica quebrada. Nesta etapa basta apresentar o conceito: a configuração é feita na Atividade de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dúvidas anotadas na leitura são material legítimo de elicitação. Peça que sejam levadas por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658368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9659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Connexa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2670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do projeto — documento base de requisitos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0" y="3401568"/>
            <a:ext cx="365760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Claudio Nunes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9502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Engenharia de Software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contexto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institucional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que motivou o pedido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instituição em números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último semestre letivo, fornecidos pela coordenação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1243584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matriculados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99616" y="14447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Distribuídos em seis cursos superiores de tecnologia, nos períodos matutino e noturno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9616" y="184708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do período noturno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99616" y="204825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trabalha durante o dia e chega à instituição pouco antes da primeira aula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5720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39572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9616" y="24505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Ingressantes por semestre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99616" y="265176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sem rede de contatos formada e concentram os maiores índices de evasão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45720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29992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9616" y="3054096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Participam de grupo de estudo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99616" y="325526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da coordenação; não há registro sistemático que confirme o número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45720" cy="530352"/>
          </a:xfrm>
          <a:prstGeom prst="rect">
            <a:avLst/>
          </a:prstGeom>
          <a:solidFill>
            <a:srgbClr val="007A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60273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99616" y="365760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ativos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99616" y="385876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veteranos bolsistas, com doze horas semanais cada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4261104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20% é estimativa, não medição — a ausência de dado confiável faz parte do problema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 percebido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coordenação descreve a situação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que estudam em grupo apresentam desempenho e permanência melhores, segundo acompanhamento informal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formação de grupos depende de afinidade prévia: quem já conhece alguém se organiza, quem não conhece fica de fora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Ingressantes e estudantes do noturno são os mais prejudicados — têm menos tempo de convivência no campus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grupo se forma, frequentemente se dissolve após poucas semanas, sem que ninguém perceba a tempo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coordenação não tem visibilidade sobre quantos grupos existem, quem participa e quais continuam ativos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3246120" cy="3054096"/>
          </a:xfrm>
          <a:prstGeom prst="roundRect">
            <a:avLst>
              <a:gd name="adj" fmla="val 1796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23560" y="13167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que abriu a reunião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23560" y="1609344"/>
            <a:ext cx="28803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quero saber quantas telas vocês vão fazer. Quero saber quantos estudantes estarão em grupo de estudo ativo no fim do semestre. Se a resposta for a mesma de hoje, o projeto foi um desperdício."
</a:t>
            </a: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Coordenação de curso, reunião de abertura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hoje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atual, descrito pela monitoria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5216" y="125272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127101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 em aula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481328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 avisa nas turmas que há interesse em formar grupos de determinada disciplina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5216" y="18745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189280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informal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03120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interessa manda mensagem no número pessoal do monitor ou o procura na sala da monitoria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5216" y="24963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" y="251460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manual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724912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 cruza disciplinas e horários livres olhando as respostas, uma a uma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5216" y="311810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" y="3136392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do encontro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346704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formado combina local e horário por conta própria, fora de qualquer sistema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85216" y="373989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52144" y="375818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ausente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3968496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registro de encontros nem de presença; o monitor só sabe que o grupo acabou por comentário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433425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processo depende da memória e da disponibilidade de uma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planilha da coordenação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artefato que hoje sustenta o processo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34340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28016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grupos_estudo_2026_1.xlsx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3941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"Interessados"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 | RA | Curso | Disciplina | Turno | Obs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"Grupos"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Grupo | Disciplina | Monitor
  Integrantes (texto livre)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"Encontros"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Grupo | Data | Presentes (texto livre)
</a:t>
            </a:r>
            <a:r>
              <a:rPr lang="en-US" sz="10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preenchida nas 3 primeiras semanas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abandonada a partir de abril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1170432"/>
            <a:ext cx="361188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57800" y="12801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planilha revela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57800" y="1591056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usados hoje indicam quais dados a instituição já considera relevantes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"Integrantes" e "Presentes" são texto livre: os nomes aparecem grafados de formas diferentes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de encontros foi abandonada — o custo de preencher superou o benefício percebido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Compartilhada por link, sem controle de quem acessa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histórico: a versão do semestre anterior foi sobrescrita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já foi tentado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anteriores e por que não se sustentaram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072" y="1490472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9576" y="12801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físico na entrada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9576" y="149047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com disciplina e horário; ninguém atualizava e a informação envelhecia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82312" y="1490472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8231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85816" y="12801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em aplicativo de mensagens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85816" y="149047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Cresceu a 400 participantes e virou canal de avisos; ninguém encontrava mais nada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76072" y="2697480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607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79576" y="2487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interesse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9576" y="269748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adesão inicial, mas o cruzamento manual das respostas levava dias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82312" y="2697480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231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85816" y="2487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compartilhada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85816" y="269748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uso hoje; funciona para inscrição e para de funcionar no acompanhamento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8368" y="3785616"/>
            <a:ext cx="7827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tentativa falhou por falta de interesse dos estudantes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falharam no esforço de manutenção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envolvidos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perspectivas sobre a mesma situação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Coordenação de curso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pelo pedido e pelo resultado esperado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gente sabe, por acompanhamento, que quem estuda em grupo se sai melhor e desiste menos. O que não temos é como agir sobre isso. Hoje eu não sei quantos grupos existem, nem quais estão realmente funcionando. Quando descubro que um grupo se desfez, o semestre já acabou. Eu preciso enxergar o quadro geral por curso e por período, para decidir onde colocar monitor e onde intervir. E preciso conseguir mostrar isso à direção com número, não com impressão."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de curso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decisão de alocação de recursos por trás do pedido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desejada é agregada, por curso e por período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está em intervir a tempo, não em registrar depois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prestação de contas à direção da instituição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veteranos bolsistas, doze horas semanais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perco boa parte da minha bolsa cruzando horário de gente na mão. Chega mensagem no meu número pessoal a qualquer hora, de aluno que eu nem conheço, e eu vou anotando. Montar um grupo de cinco pessoas que consigam se encontrar no mesmo horário leva uns três dias de conversa. E depois disso eu não acompanho mais nada — se o grupo parou de se encontrar, eu não fico sabendo. Eu queria usar essas horas ajudando quem tem dificuldade na matéria, não fazendo agenda."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Algoritmos, terceiro semestre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é o cruzamento manual de disponibilidade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mistura entre canal pessoal e canal institucional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sinal de que um grupo parou de funcionar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monitoria quer deslocar esforço para a atividade-fim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Estudante ingressante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semestre, período noturno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cheguei sem conhecer ninguém. Todo mundo já parecia ter seu grupo, e eu não ia chegar num pessoal que já estava conversando e pedir para entrar. Fiquei sabendo que existiam grupos de estudo quase no fim do semestre, por acaso. Se eu tivesse visto uma lista de grupos da minha disciplina, com o horário, eu teria entrado no primeiro dia. O que me trava não é vontade — é não saber por onde começar."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do primeiro semestre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barreira é de descoberta e de aproximação social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ingressante não sabe que a possibilidade existe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oferta disponível já reduziria boa parte do atrito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público com maior risco de evasão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Estudante trabalhador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semestre, trabalha em período integral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 problema é horário. Eu chego correndo às 19h e saio às 22h30 direto para o ônibus. Encontro presencial fora desse intervalo é impossível para mim. Já participei de um grupo que combinou de se encontrar sábado de manhã e eu simplesmente não pude ir nenhuma vez — acabei saindo. Se desse para saber antes que o grupo se encontra num horário que eu não consigo, eu nem teria entrado, e não teria atrapalhado os outros."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do quarto semestre, período noturno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de horário é condição, não preferência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precisa estar visível antes da adesão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em grupo incompatível prejudica o próprio grupo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remoto pode ser relevante para este perfil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 da Informação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responsável pela infraestrutura institucional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"Vocês não vão integrar com o nosso diretório de identidade: isso exige direito administrativo que não concedemos a projeto de aluno. O que precisamos garantir é que quem entra pertence à instituição, então o cadastro tem que usar o e-mail institucional, e esse endereço precisa ser comprovado, não apenas digitado. A senha fica sob a guarda de vocês — e a responsabilidade também. Sobre dados pessoais, a instituição responde pela LGPD, então precisamos saber o que está sendo coletado e para quê. E acessibilidade não é negociável: temos alunos com deficiência visual usando leitor de tela."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de TI da instituição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institucional identifica; a credencial é do sistema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Comprovar o endereço é diferente de apenas informá-lo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guarda da senha é responsabilidade de quem constrói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é requisito institucional verificável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Panorama dos envolvidos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são, o que os move e o que hoje os impede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Envolvido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quer alcançar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hoje o impede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Elevar adesão e agir antes da evasão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tem visibilidade nem dado confiável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as horas de bolsa ensinando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cruzamento manual de horários consome o 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 um grupo logo no início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sabe que existem nem como se aproximar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Participar sem inviabilizar a rotina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Descobre a incompatibilidade de horário tarde demais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que só a comunidade acesse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pode abrir integração com o diretório de identidade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destas necessidades foi convertida em requisito ainda — essa conversão é o trabalho da Etapa 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do produto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escopo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pretende, o que fica de fora e o que ainda não foi decidido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visão do produto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que orienta as decisões do semestre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1645920"/>
          </a:xfrm>
          <a:prstGeom prst="roundRect">
            <a:avLst>
              <a:gd name="adj" fmla="val 3333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7863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que precisam de apoio nos estudos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hoje dependem de conhecer alguém para formar grupo, o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plataforma que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 estudantes compatíveis e dá à instituição visibilidade sobre os grupos ativos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diferentemente de murais, formulários e planilhas, que exigem esforço manual de manutenção e não se sustentam ao longo do semestre.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45720" cy="47548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5216" y="298094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1096" y="303580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Estudantes, monitoria e coordenação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911096" y="323697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públicos com necessidades distintas e complementares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5720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352958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MUDA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11096" y="358444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afinidade prévia à compatibilidade declarada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11096" y="378561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grupo deixa de depender de já conhecer alguém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7822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45720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40782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SE MEDE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11096" y="413308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de estudantes em grupo ativo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911096" y="433425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que a coordenação levará à direção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instituição espera obter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declarados, com horizonte de um semestre letivo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0292" cy="1335024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de ~20% para 45% a proporção em grupo ativo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prioritário entre ingressantes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ao final do semestre letivo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0292" cy="13350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evasão no primeiro ano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estudante isolado antes da desistência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Correlacionar participação e permanência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50292" cy="13350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DA MONITORIA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tempo gasto com agendamento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Redirecionar horas de bolsa ao atendimento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grupos atendidos por monitor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2615184"/>
            <a:ext cx="50292" cy="133502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quantos grupos existem e quais estão ativos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Enxergar por curso e por período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decisão com dado, não com percepção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são objetivos de negócio — cabe à equipe descobrir que mudanças de comportamento os produzem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Dentro do escopo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Territórios que o projeto pode explorar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07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957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disponibilidade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957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estudante informa sobre si, suas disciplinas e seus horários livres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8231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8231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8581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grupos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8581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 entre estudantes compatíveis e constituição do grupo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7607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607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795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957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local ou meio, e registro de realização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8231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231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8581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8581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 de grupos ativos, ociosos e encerrados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7607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607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7957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institucional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7957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para monitoria e coordenação, por curso e por período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8231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8231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8581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do grupo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8581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material de estudo entre integrantes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equipe construirá tudo — o recorte é decisão da própria equipe, registrada na Etapa 1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Fora do escopo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já tomadas pela instituição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45336" y="1243584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notas e frequência oficial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45336" y="1444752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no sistema acadêmico; o Connexa não substitui registro oficial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45336" y="184708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 em tempo real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45336" y="2048256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entre integrantes continua nos canais que eles já usam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3957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45336" y="245059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videoconferência própria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45336" y="2651760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remotos usam ferramentas já disponíveis na instituição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299923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45336" y="305409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conteúdo didático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45336" y="3255264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produz nem faz curadoria de material de estudo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60273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45336" y="3657600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cobrança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45336" y="3858768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transação financeira envolvida em nenhuma hipótese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fora do escopo não volta à discussão — se a equipe julgar necessário incluí-lo, registra como decisão e justifica.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Restrições técnicas e institucionais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impostos de fora do projeto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45336" y="1243584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por e-mail institucional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45336" y="1444752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exige e-mail institucional comprovado; a credencial de acesso é do próprio Connexa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LGPD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45336" y="184708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 pessoais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45336" y="2048256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instituição responde pela conformidade; finalidade e base legal declaradas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5720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3957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45336" y="245059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45336" y="2651760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completa por teclado e compatibilidade com leitor de tela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45720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299923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45336" y="305409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em celular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45336" y="3255264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do acesso dos estudantes ocorre pelo telefone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45720" cy="530352"/>
          </a:xfrm>
          <a:prstGeom prst="rect">
            <a:avLst/>
          </a:prstGeom>
          <a:solidFill>
            <a:srgbClr val="007A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60273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PRAZO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45336" y="3657600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letivo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45336" y="3858768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de medição do resultado é o semestre corrente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4261104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não se negocia dentro do projeto — ela delimita o espaço de solução desde o início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Acesso e identificação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estudante entra no sistema — e o que fica em aberto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60520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definido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exige e-mail institucional; endereço pessoal não é aceito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 precisa ser comprovado, não apenas informado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é criada pelo estudante e fica sob a guarda do Connexa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integração com o diretório de identidade da instituição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170432"/>
            <a:ext cx="3794760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7492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decide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1591056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endereço é reconhecido como institucional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comprovação acontece e por quanto tempo vale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ocorre com quem se cadastra e nunca comprova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estudante recupera o acesso ao esquecer a senha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exigências mínimas a senha precisa atender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13632"/>
            <a:ext cx="8229600" cy="694944"/>
          </a:xfrm>
          <a:prstGeom prst="roundRect">
            <a:avLst>
              <a:gd name="adj" fmla="val 7895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4041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confundir: a conta institucional usada no Azure Boards (Parte 5) é a ferramenta de trabalho da equipe. Ela não tem relação com o mecanismo de acesso ao Connexa.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pessoais em questão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 desde o início do projeto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1"/>
            <a:ext cx="4160520" cy="2587181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o processo atual já usa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37947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Registro Acadêmico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Curso, período e disciplinas cursadas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de disponibilidade declarados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em grupo e presença em encontros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para aviso e convite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de acesso criada pelo próprio estudante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79004"/>
            <a:ext cx="3794760" cy="257860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7492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a equipe precisará responder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1591056"/>
            <a:ext cx="34290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finalidade cada dado é coletado?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deles pode ser dispensado sem prejuízo?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ver o dado de outro estudante, e em que grau?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estudante sai da plataforma e o que ocorre com seus dados?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registrado sobre quem acessou o quê?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senha é guardada, já que ela é responsabilidade do sistema?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22776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414223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perguntas não têm resposta pronta neste documento. Respondê-las faz parte da Etapa 1 e será verificado novamente na Etapa 6.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Pontos deliberadamente em aberto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instituição ainda não decidiu — cabe à equipe propor e justificar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07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957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alguém entra num grupo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957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direto, convite de integrante ou aprovação — não há decisão tomada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8231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8231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8581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grupo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8581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monitoria trabalha com quatro a seis pessoas por hábito, não por norma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7607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607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795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presença é registrada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957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Autodeclarada, confirmada por outro integrante ou simplesmente não registrada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8231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231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8581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grupo está inativo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8581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definição institucional do que caracteriza abandono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7607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607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957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remoto ou presencial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7957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são aceitáveis; a instituição não tem preferência declarada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8231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8231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8581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coordenação enxerga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8581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panorama é agregado ou nominal ainda não foi definido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sinalizada é convite à decisão — cada uma destas vira hotspot no Event Storming e, mais tarde, um ADR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Organização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equipes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Composição, papéis e nomenclatura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Formação das equipes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a cinco integrantes, estáveis durante todo o semestre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0292" cy="13350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 as reuniões curtas da equipe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impedimentos e escala o que trava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todos falem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0292" cy="13350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DA QUALIDADE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 pelo Definition of Done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se a verificação cobre o que mudou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entrega sem verificação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50292" cy="133502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DA ARQUITETURA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aderência às decisões registradas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ADR quando surge decisão nova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acoplamento indevido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2615184"/>
            <a:ext cx="50292" cy="1335024"/>
          </a:xfrm>
          <a:prstGeom prst="rect">
            <a:avLst/>
          </a:prstGeom>
          <a:solidFill>
            <a:srgbClr val="007A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ENTREGA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das releases e da rastreabilidade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submissão no Microsoft Teams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o vínculo até o commit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papéis rodam a cada etapa — ao final do semestre, todos terão exercido todos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Nomenclatura e endereços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escolhe os nomes; só o nome do projeto é fixo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52628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28016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da equipe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1591056"/>
            <a:ext cx="412394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
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&lt;nome-da-equipe&gt;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
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&lt;organizacao-github&gt;/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&lt;repositorio-da-equipe&gt;   (Atividade de Sprint)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DevOps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Organização  &lt;organizacao-azure-devops&gt;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Projeto      Connexa   (obrigatório)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  feat/AB1234-descricao-curta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Release  v0.1.0
</a:t>
            </a:r>
            <a:r>
              <a:rPr lang="en-US" sz="9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valores entre &lt; </a:t>
            </a:r>
            <a:r>
              <a:rPr lang="en-US" sz="90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são escolhidos pela</a:t>
            </a:r>
            <a:endParaRPr lang="en-US" sz="1000" dirty="0"/>
          </a:p>
          <a:p>
            <a:pPr marL="0" indent="0">
              <a:buNone/>
            </a:pPr>
            <a:r>
              <a:rPr lang="pt-BR" sz="90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equipe; só o projeto tem nome fixo.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57800" y="1170432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40680" y="12801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os nomes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40680" y="1591056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pt-BR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nomes curtos, sem acentos nem espaços: eles aparecem em endereços e arquivos de configuração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pt-BR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criado, o nome não muda: links, conexões e configurações dependem dele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pt-BR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o nome da equipe e os das organizações no post de cada entrega no Teams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pt-BR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no Azure DevOps chama-se exatamente Connexa em todas as equipes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entrega no Teams referencia o commit, não apenas o repositório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Boards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organização e o projeto com a conta institucional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a organização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integrante executa; os demais são convidados em seguida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5216" y="12833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2833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12522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portal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4490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dev.azure.com em janela anônima, para evitar sessão de conta pessoal já aberta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5216" y="196913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96913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19380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a conta institucional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348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e-mail institucional, a organização fica ligada ao Microsoft Entra ID da instituição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5216" y="26549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6549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" y="26238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nova organização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8206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nome escolhido pela equipe; ele aparece nos endereços e não muda depois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5216" y="33407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3407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" y="33096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região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5064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Brazil South, para manter os dados em território nacional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85216" y="40265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40265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52144" y="39954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Convidar os integrantes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41922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os demais pelo e-mail institucional, com nível de acesso Basic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1188720"/>
            <a:ext cx="2697480" cy="3352800"/>
          </a:xfrm>
          <a:prstGeom prst="roundRect">
            <a:avLst>
              <a:gd name="adj" fmla="val 2034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172200" y="131699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72200" y="1609090"/>
            <a:ext cx="233172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conta é a ferramenta de trabalho da equipe — não é o acesso ao Connexa, que tem cadastro próprio.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o e-mail institucional autentica no portal. Havendo bloqueio da instituição, comunique o docente em vez de usar conta pessoal.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gratuito inclui cinco usuários Basic: integrantes com Basic e o docente como Stakeholder.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o projeto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por equipe, dentro da organização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5216" y="131673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128930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projeto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499616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exatamente Connexa, em todas as equipes; a organização já identifica a equipe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5216" y="202996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200253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212848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privado e adicionar o docente como membro, com acesso Stakeholder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5216" y="274320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" y="271576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trabalho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926080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Agile, que oferece a hierarquia Epic, Feature, User Story e Task usada na disciplina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5216" y="345643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" y="342900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habilitados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639312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ativo como fonte do backlog; o código permanece no GitHub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8368" y="4169664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processo de trabalho não pode ser alterada depois sem retrabalho — confira antes de confirmar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estrutura do backlog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em cada nível, na disciplina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representa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obrigatório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amplo, meses de trabalho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citando a meta e o 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coerente de histórias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impacto 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entregável em uma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de aceite em Gherkin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técnico de horas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Vínculo com a história-mãe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de 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MoSCoW: Must, Should, Could ou Wont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sem critério de aceite preenchido ainda não está pronta para entrar em uma sprint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 com o GitHub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elo que fecha a cadeia de rastreabilidade — configurado na Atividade de Sprint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1481328"/>
          </a:xfrm>
          <a:prstGeom prst="roundRect">
            <a:avLst>
              <a:gd name="adj" fmla="val 370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7827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vínculo funciona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7827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item no Azure Boards     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#1234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no 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            feat/AB1234-sugestao-por-horario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Mensagem de commit            feat(grupos): sugerir por horário  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AB#1234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                  vinculado automaticamente ao work item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98064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4572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5216" y="2798064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28529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Conectar, na Atividade de Sprint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30540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cria a organização e o repositório no GitHub e os conecta ao Azure Boards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45720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3364992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341985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prefixo no commit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50976" y="36210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menção AB# seguida do número liga o commit ao work item correspondente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" cy="4937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931920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398678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 vínculo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0976" y="418795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no Boards deve exibir o commit e o Pull Request relacionados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primeiros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52144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362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1673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a equipe de quatro a cinco integrantes e escolher o nome da equipe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6080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8608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8150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organização no Azure Boards com a conta institucional e convidar todos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projeto Connexa com o processo Agile e adicionar o docente como Stakeholder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575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8575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81178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em Organization settings › Microsoft Entra que a organização está ligada à instituição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558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3101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este documento inteiro em equipe, marcando o que não ficou claro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541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080" y="3854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80847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as dúvidas para a sessão de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elas abrem o Event Storming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315968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Etapa 1: descoberta de domínio e backlog inicial do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138160" y="502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C084FD-5ABB-4751-9653-627BABE36D20}">
  <we:reference id="f5f369e5-aa35-49d7-ad7b-638152ddb008" version="1.0.0.1" store="EXCatalog" storeType="EXCatalog"/>
  <we:alternateReferences>
    <we:reference id="WA200010001" version="1.0.0.1" store="pt-BR" storeType="OMEX"/>
  </we:alternateReferences>
  <we:properties>
    <we:property name="claude.fileId" value="&quot;e2e5d716-6e64-4e82-82e2-c997bec6382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4034</Words>
  <Application>Microsoft Office PowerPoint</Application>
  <PresentationFormat>Apresentação na tela (16:9)</PresentationFormat>
  <Paragraphs>481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Connexa — Proposta do Projeto</dc:title>
  <dc:subject>PptxGenJS Presentation</dc:subject>
  <dc:creator>Prof. Claudio Nunes</dc:creator>
  <cp:lastModifiedBy>Claudio Nunes</cp:lastModifiedBy>
  <cp:revision>2</cp:revision>
  <dcterms:created xsi:type="dcterms:W3CDTF">2026-08-17T20:08:12Z</dcterms:created>
  <dcterms:modified xsi:type="dcterms:W3CDTF">2026-10-18T21:22:43Z</dcterms:modified>
</cp:coreProperties>
</file>