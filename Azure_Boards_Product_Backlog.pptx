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5" r:id="rId25"/>
    <p:sldId id="286" r:id="rId26"/>
    <p:sldId id="287" r:id="rId27"/>
    <p:sldId id="288" r:id="rId28"/>
    <p:sldId id="289" r:id="rId29"/>
    <p:sldId id="290" r:id="rId30"/>
    <p:sldId id="294" r:id="rId31"/>
    <p:sldId id="295" r:id="rId32"/>
    <p:sldId id="296" r:id="rId33"/>
    <p:sldId id="297" r:id="rId34"/>
    <p:sldId id="298" r:id="rId35"/>
    <p:sldId id="299" r:id="rId36"/>
    <p:sldId id="316" r:id="rId37"/>
    <p:sldId id="311" r:id="rId38"/>
    <p:sldId id="314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A68100-4DB1-4396-BEF3-B5592E1C87EF}" v="2" dt="2026-08-27T06:01:06.4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3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audio Nunes" userId="6b4e29b0183cad7c" providerId="LiveId" clId="{87C430B2-9F16-4627-9682-FC96D35B4F1E}"/>
    <pc:docChg chg="custSel addSld delSld">
      <pc:chgData name="Claudio Nunes" userId="6b4e29b0183cad7c" providerId="LiveId" clId="{87C430B2-9F16-4627-9682-FC96D35B4F1E}" dt="2026-08-27T06:06:24.111" v="15"/>
      <pc:docMkLst>
        <pc:docMk/>
      </pc:docMkLst>
      <pc:sldChg chg="del">
        <pc:chgData name="Claudio Nunes" userId="6b4e29b0183cad7c" providerId="LiveId" clId="{87C430B2-9F16-4627-9682-FC96D35B4F1E}" dt="2026-08-27T06:00:57.282" v="0"/>
        <pc:sldMkLst>
          <pc:docMk/>
          <pc:sldMk cId="0" sldId="264"/>
        </pc:sldMkLst>
      </pc:sldChg>
      <pc:sldChg chg="del">
        <pc:chgData name="Claudio Nunes" userId="6b4e29b0183cad7c" providerId="LiveId" clId="{87C430B2-9F16-4627-9682-FC96D35B4F1E}" dt="2026-08-27T06:00:57.319" v="1"/>
        <pc:sldMkLst>
          <pc:docMk/>
          <pc:sldMk cId="0" sldId="265"/>
        </pc:sldMkLst>
      </pc:sldChg>
      <pc:sldChg chg="del">
        <pc:chgData name="Claudio Nunes" userId="6b4e29b0183cad7c" providerId="LiveId" clId="{87C430B2-9F16-4627-9682-FC96D35B4F1E}" dt="2026-08-27T06:00:57.332" v="2"/>
        <pc:sldMkLst>
          <pc:docMk/>
          <pc:sldMk cId="0" sldId="273"/>
        </pc:sldMkLst>
      </pc:sldChg>
      <pc:sldChg chg="del">
        <pc:chgData name="Claudio Nunes" userId="6b4e29b0183cad7c" providerId="LiveId" clId="{87C430B2-9F16-4627-9682-FC96D35B4F1E}" dt="2026-08-27T06:00:57.342" v="3"/>
        <pc:sldMkLst>
          <pc:docMk/>
          <pc:sldMk cId="0" sldId="274"/>
        </pc:sldMkLst>
      </pc:sldChg>
      <pc:sldChg chg="del">
        <pc:chgData name="Claudio Nunes" userId="6b4e29b0183cad7c" providerId="LiveId" clId="{87C430B2-9F16-4627-9682-FC96D35B4F1E}" dt="2026-08-27T06:00:57.352" v="4"/>
        <pc:sldMkLst>
          <pc:docMk/>
          <pc:sldMk cId="0" sldId="283"/>
        </pc:sldMkLst>
      </pc:sldChg>
      <pc:sldChg chg="del">
        <pc:chgData name="Claudio Nunes" userId="6b4e29b0183cad7c" providerId="LiveId" clId="{87C430B2-9F16-4627-9682-FC96D35B4F1E}" dt="2026-08-27T06:00:57.360" v="5"/>
        <pc:sldMkLst>
          <pc:docMk/>
          <pc:sldMk cId="0" sldId="284"/>
        </pc:sldMkLst>
      </pc:sldChg>
      <pc:sldChg chg="del">
        <pc:chgData name="Claudio Nunes" userId="6b4e29b0183cad7c" providerId="LiveId" clId="{87C430B2-9F16-4627-9682-FC96D35B4F1E}" dt="2026-08-27T06:00:57.370" v="6"/>
        <pc:sldMkLst>
          <pc:docMk/>
          <pc:sldMk cId="0" sldId="292"/>
        </pc:sldMkLst>
      </pc:sldChg>
      <pc:sldChg chg="del">
        <pc:chgData name="Claudio Nunes" userId="6b4e29b0183cad7c" providerId="LiveId" clId="{87C430B2-9F16-4627-9682-FC96D35B4F1E}" dt="2026-08-27T06:00:57.378" v="7"/>
        <pc:sldMkLst>
          <pc:docMk/>
          <pc:sldMk cId="0" sldId="293"/>
        </pc:sldMkLst>
      </pc:sldChg>
      <pc:sldChg chg="del">
        <pc:chgData name="Claudio Nunes" userId="6b4e29b0183cad7c" providerId="LiveId" clId="{87C430B2-9F16-4627-9682-FC96D35B4F1E}" dt="2026-08-27T06:05:40.827" v="13"/>
        <pc:sldMkLst>
          <pc:docMk/>
          <pc:sldMk cId="0" sldId="300"/>
        </pc:sldMkLst>
      </pc:sldChg>
      <pc:sldChg chg="del">
        <pc:chgData name="Claudio Nunes" userId="6b4e29b0183cad7c" providerId="LiveId" clId="{87C430B2-9F16-4627-9682-FC96D35B4F1E}" dt="2026-08-27T06:00:57.389" v="8"/>
        <pc:sldMkLst>
          <pc:docMk/>
          <pc:sldMk cId="0" sldId="301"/>
        </pc:sldMkLst>
      </pc:sldChg>
      <pc:sldChg chg="del">
        <pc:chgData name="Claudio Nunes" userId="6b4e29b0183cad7c" providerId="LiveId" clId="{87C430B2-9F16-4627-9682-FC96D35B4F1E}" dt="2026-08-27T06:00:57.398" v="9"/>
        <pc:sldMkLst>
          <pc:docMk/>
          <pc:sldMk cId="0" sldId="302"/>
        </pc:sldMkLst>
      </pc:sldChg>
      <pc:sldChg chg="del">
        <pc:chgData name="Claudio Nunes" userId="6b4e29b0183cad7c" providerId="LiveId" clId="{87C430B2-9F16-4627-9682-FC96D35B4F1E}" dt="2026-08-27T06:00:57.410" v="10"/>
        <pc:sldMkLst>
          <pc:docMk/>
          <pc:sldMk cId="0" sldId="312"/>
        </pc:sldMkLst>
      </pc:sldChg>
      <pc:sldChg chg="del">
        <pc:chgData name="Claudio Nunes" userId="6b4e29b0183cad7c" providerId="LiveId" clId="{87C430B2-9F16-4627-9682-FC96D35B4F1E}" dt="2026-08-27T06:00:57.424" v="11"/>
        <pc:sldMkLst>
          <pc:docMk/>
          <pc:sldMk cId="0" sldId="313"/>
        </pc:sldMkLst>
      </pc:sldChg>
      <pc:sldChg chg="add del">
        <pc:chgData name="Claudio Nunes" userId="6b4e29b0183cad7c" providerId="LiveId" clId="{87C430B2-9F16-4627-9682-FC96D35B4F1E}" dt="2026-08-27T06:06:24.111" v="15"/>
        <pc:sldMkLst>
          <pc:docMk/>
          <pc:sldMk cId="3223278812" sldId="315"/>
        </pc:sldMkLst>
      </pc:sldChg>
      <pc:sldChg chg="add">
        <pc:chgData name="Claudio Nunes" userId="6b4e29b0183cad7c" providerId="LiveId" clId="{87C430B2-9F16-4627-9682-FC96D35B4F1E}" dt="2026-08-27T06:06:24.096" v="14"/>
        <pc:sldMkLst>
          <pc:docMk/>
          <pc:sldMk cId="455893094" sldId="31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178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Apresentação de apoio à primeira atividade do projeto no Azure Boards (RA-01).</a:t>
            </a:r>
            <a:r>
              <a:rPr lang="en-US"/>
              <a:t> </a:t>
            </a:r>
            <a:r>
              <a:rPr lang="en-US" dirty="0"/>
              <a:t>Pressupõe equipes já formadas, organização e projeto criados com o processo Agile (Parte 5 da proposta do projeto</a:t>
            </a:r>
            <a:r>
              <a:rPr lang="en-US"/>
              <a:t>). </a:t>
            </a:r>
            <a:r>
              <a:rPr lang="pt-BR"/>
              <a:t>Duração sugerida: uma aula de laboratório, com execução na ferramenta na segunda metade, mais trabalho extraclasse.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o início que as Partes 1 a 4 </a:t>
            </a:r>
            <a:r>
              <a:rPr lang="en-US"/>
              <a:t>existem </a:t>
            </a:r>
            <a:r>
              <a:rPr lang="pt-BR"/>
              <a:t>para que a Parte 5 não seja</a:t>
            </a:r>
            <a:r>
              <a:rPr lang="en-US"/>
              <a:t> </a:t>
            </a:r>
            <a:r>
              <a:rPr lang="en-US" dirty="0"/>
              <a:t>execução mecânica de cliques.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 clique nesta parte. O objetivo é que a equipe entenda o que está registrando antes de registrar.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o slide de pontos em aberto da proposta do projeto. A incerteza do briefing é intencional e é exatamente o que justifica trabalhar em ciclos.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Marcar bem </a:t>
            </a:r>
            <a:r>
              <a:rPr lang="en-US"/>
              <a:t>que </a:t>
            </a:r>
            <a:r>
              <a:rPr lang="pt-BR"/>
              <a:t>a atividade avaliada agora é o passo 1</a:t>
            </a:r>
            <a:r>
              <a:rPr lang="en-US"/>
              <a:t>; </a:t>
            </a:r>
            <a:r>
              <a:rPr lang="en-US" dirty="0"/>
              <a:t>os demais aparecem nas etapas seguintes da disciplina.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'ordenada' e não apenas 'priorizada': prioridade em faixas ainda deixa a equipe sem saber por onde começar.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deliberadamente não técnico. Perguntar à turma qual seria o item 1 se a pessoa trabalhasse em casa — a ordem muda com o objetivo, e isso é o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sensível: como não há um PO externo, a equipe precisa defender a ordem com argumento tirado do briefing. Isso é avaliado.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processo escolhido no projeto é o Agile justamente por oferecer estes quatro níveis. O processo Basic não tem o nível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horizonte de tempo é o critério mais fácil de aplicar em sala. Se um item cabe em horas, é Task; se não cabe em uma sprint, ainda não é história.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o teste ao vivo com dois ou três itens propostos pela turma. É o momento de corrigir a confusão mais comum entre história e tarefa.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Domínio propositalmente distante do Connexa. Perguntar à turma o que aconteceria se cada Task virasse uma história: a sprint entregaria quatro itens e nenhum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que equipes com backlogs idênticos indicam cópia, não convergência. Cada equipe recortou o problema de um jeito e precisa saber defender o recorte.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cada equipe encontre, no próprio rascunho, ao menos um item que se encaixe em um destes três erros.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com o papel de guardião da qualidade definido na proposta do projeto: é quem recusa entrega sem verificação.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parte com maior peso na avaliação </a:t>
            </a:r>
            <a:r>
              <a:rPr lang="en-US"/>
              <a:t>da RA-01: história sem critério </a:t>
            </a:r>
            <a:r>
              <a:rPr lang="en-US" dirty="0"/>
              <a:t>de aceite não é contabilizada.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curto e acionável no campo Title; a frase completa no Description. Isso torna o backlog legível quando há 30 itens.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frase do estudante trabalhador vem do briefing. Mostrar a rastreabilidade: fala do envolvido → história → critério de aceite.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vale aplicar INVEST ao backlog inteiro: itens da base são propositalmente grossos e falham em E e S por definição.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clássico em projeto de disciplina</a:t>
            </a:r>
            <a:r>
              <a:rPr lang="en-US"/>
              <a:t>: </a:t>
            </a:r>
            <a:r>
              <a:rPr lang="pt-BR"/>
              <a:t>a primeira entrega vira 'modelagem do banco'</a:t>
            </a:r>
            <a:r>
              <a:rPr lang="en-US"/>
              <a:t>. </a:t>
            </a:r>
            <a:r>
              <a:rPr lang="en-US" dirty="0"/>
              <a:t>Antecipar e proibir explicitamente.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cenário de exceção é o que revela regra de negócio ausente. No Connexa, isso ataca diretamente os pontos em aberto do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cada equipe leia em voz alta um critério próprio e a turma julgue se cabe em algum dos quatro padrões.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uma história recebe 13 pontos ou mais na estimativa, ela deve ser quebrada por um destes padrões antes de entrar na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decisões diferentes: a ordem é decisão de valor; o tamanho é decisão da equipe. Não confundir as duas.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campo interno é o Stack Rank; na interface aparece como a própria ordem da lista e pode ser exibido como Backlog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apóstrofo em Won't quebra alguns filtros e consultas; padronizar como Wont evita retrabalho na correção automatizada.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o quadrante baixo valor/baixo esforço: é onde a equipe se refugia quando o item importante dá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Sugerir que a referência seja uma história de cadastro simples. Registrar qual foi a escolhida — a escala perde sentido se a âncora muda no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 app gratuito de planning poker, mas papel e caneta funcionam. O importante é o voto simultâneo.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daqui, executar na ferramenta com o projeto aberto. Pressupõe organização e projeto Connexa já criados com o processo 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abrir cada página ao vivo por dez segundos. A confusão entre Boards, Backlogs e Sprints é a principal fonte de dúvida na primeira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equipe não fizer este ajuste, vai criar tudo como User Story por não enxergar os outros níveis — erro frequente e de correção trabalhosa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ao vivo os dois caminhos: pelo + do pai e pelo botão geral. A diferença no resultado é imediatamente visível.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como o Column Options exibe Story Points e Tags direto na lista — é assim que a equipe confere a própria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Ensinar a consulta de verificação é o que transforma a correção em algo que a própria equipe consegue antecipar.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explícito que o histórico de edição é consultado. Isso muda o comportamento de equipes em que um integrante faz tudo sozinho na véspera.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Distribuir o roteiro antes </a:t>
            </a:r>
            <a:r>
              <a:rPr lang="en-US" dirty="0"/>
              <a:t>da aula prática. A rubrica detalhada evita a maior parte das dúvidas de correção.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reservando os últimos 20 minutos da aula para que cada equipe execute o passo 2 com o docente disponível para desbloqueio.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6220" y="475488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69164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Boards na prática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640080" y="239572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BR" sz="200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proposta do projeto ao Product Backlog ordenado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011680" y="3200400"/>
            <a:ext cx="512064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48640" y="33832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Claudio Nunes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3675888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de Engenharia de Software — Projeto Connexa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entrega desta etapa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equipe vai produzir e o caminho até lá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5720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43000"/>
            <a:ext cx="7899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RA-01 — Product Backlog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35608"/>
            <a:ext cx="78994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Epic → Feature → User Story no Azure Boards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com critérios de aceite verificáveis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ordenado e classificado em MoSCoW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7860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578608"/>
            <a:ext cx="457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85216" y="259689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e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62456" y="264261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e a hierarquia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62456" y="2852928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sprint, papéis e os quatro níveis de work item do processo Agile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21868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57200" y="3218688"/>
            <a:ext cx="4572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85216" y="323697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e 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62456" y="328269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Escrever, ordenar e dimensionar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62456" y="3493008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Histórias de usuário, critérios de aceite, MoSCoW e estimativa relativa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85876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3858768"/>
            <a:ext cx="45720" cy="5486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85216" y="387705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62456" y="3922776"/>
            <a:ext cx="7178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na ferramenta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62456" y="4133088"/>
            <a:ext cx="7178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no Azure Boards, entregáveis </a:t>
            </a: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avaliação da atividade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4439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57200" y="44439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exemplo aparece duas vezes: primeiro em um domínio fora da disciplina, depois no Connexa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trabalho antes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ferramenta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Backlog, sprint e papéis — o vocabulário mínimo para não usar o Azure Boards no escuro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não planejar tudo de uma vez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decidir cedo e decidir com informação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9202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fechado no início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38770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escopo é definido antes de qualquer entrega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decisões são tomadas quando se sabe menos sobre o problema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vira retrabalho e negociação de prazo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resultado utilizável aparece perto do fim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9744" y="1097280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97280"/>
            <a:ext cx="45720" cy="19202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revisado a cada ciclo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81328"/>
            <a:ext cx="38770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o próximo ciclo é detalhado; o resto permanece grosso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ciclo entrega algo utilizável e produz aprendizado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 é esperada e entra pela reordenação do backlog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do erro é limitado ao tamanho do ciclo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45720" cy="117043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1792" y="3255264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muda no projeto de vocês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" y="3547872"/>
            <a:ext cx="79004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briefing do Connexa tem pontos deliberadamente em aberto — decidir tudo hoje seria decidir no chute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backlog é o lugar onde essas decisões vão sendo tomadas e registradas, item a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equipe construirá tudo: o recorte é uma escolha da equipe, visível na ordem do backlog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ciclo que vamos usar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ciclo fechado que se repete a cada </a:t>
            </a:r>
            <a:r>
              <a:rPr lang="en-US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</a:t>
            </a: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esta atividade cobre o passo 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16152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52144" y="1188720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ordenar o Product Backlog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52144" y="1399032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que se imagina fazer, em uma lista única e ordenada por valor  </a:t>
            </a: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ESTA ATIVIDADE (RA-01)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37944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920240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920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52144" y="1892808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 a Sprint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52144" y="2103120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a meta, selecionar itens que cabem na capacidade e quebrá-los em tarefas  </a:t>
            </a: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ETAPA SEGUINTE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42032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624328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624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" y="2596896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a Sprint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2144" y="2807208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 apenas nos itens selecionados; reunião diária curta para sincronizar e destravar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328416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328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" y="3300984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resultado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52144" y="3511296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o que ficou pronto segundo o Definition of Done e coletar retorno de quem usa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4032504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4032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52144" y="4005072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2144" y="4215384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o processo da equipe e escolher um ajuste concreto para o próximo ciclo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backlog não termina no passo 1: ele é reordenado a cada volta do ciclo, com o que se aprendeu na anterior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Backlog: o que é e o que não 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única, ordenada e viva de tudo que se pretende fazer no produto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4813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ordenada: existe um primeiro e um último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única fonte de trabalho do produto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Detalhada no topo, grossa na base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Revisada continuamente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48132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lista de tarefas técnicas da equipe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contrato de escopo fechado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depósito de tudo que alguém já pediu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cronograma com datas por item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24912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24912"/>
            <a:ext cx="45720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cuida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127248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representa o cliente decide a ordem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decide o tamanho e o como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e estimativa são conversas distintas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45152" y="2724912"/>
            <a:ext cx="4041648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724912"/>
            <a:ext cx="45720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834640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muda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127248"/>
            <a:ext cx="37307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se aprende algo sobre o problema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de cada sprint, na revisão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uma restrição nova aparece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31596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prática: se dois itens estão "empatados" na prioridade, o backlog ainda não está ordenado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backlog fora do software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outro domínio: preparar um apartamento alugado para morar, com duas semanas e orçamento curto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0" cy="3108960"/>
          </a:xfrm>
          <a:prstGeom prst="roundRect">
            <a:avLst>
              <a:gd name="adj" fmla="val 1765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4700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 — MUDANÇA PARA O APARTAMENTO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47000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Ligar água, luz e internet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Cama montada e funcional  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Fogão instalado e testado 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Chuveiro elétrico revisado          [Must]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Geladeira posicionada e ligada      [Should]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 Mesa de trabalho para estudo        [Should]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 Cortina no quarto                   [Should]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 Pintar a parede da sala             [Could]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 Quadros e prateleiras               [Could]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Trocar o piso do banheiro           [Won't]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32704" y="1097280"/>
            <a:ext cx="3383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5632704" y="1097280"/>
            <a:ext cx="45720" cy="148132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797296" y="1188720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este backlog mostra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797296" y="1481328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responde a uma pergunta: o que impede de dormir aqui hoje?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é um resultado percebido por quem vai morar, não uma tarefa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"Trocar o piso" não some — fica registrado como fora deste ciclo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32704" y="2724912"/>
            <a:ext cx="338328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5632704" y="2724912"/>
            <a:ext cx="45720" cy="14813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797296" y="2816352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raciocínio no Connexa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797296" y="3108960"/>
            <a:ext cx="305409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item, se faltar, impede um estudante de entrar em um grupo?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item vai para o topo, mesmo que seja tecnicamente simples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desejável e não bloqueia nada desce na lista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37083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57200" y="43708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Priorizar é aceitar que algo fica para depois — um backlog em que tudo é "Must" não foi priorizado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Quem decide o quê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responsabilidades distintas — e como elas se distribuem na equipe da disciplina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133856"/>
            <a:ext cx="457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5216" y="1152144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819656" y="119786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 do cliente (Product Owner)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19656" y="1408176"/>
            <a:ext cx="6720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ordem do backlog e o que significa "pronto" do ponto de vista de quem usa. Responde por valor entregue, não por linhas de código.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002536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2002536"/>
            <a:ext cx="45720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85216" y="2020824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TAMANHO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19656" y="206654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desenvolvimento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9656" y="2276856"/>
            <a:ext cx="6720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como construir, estima o esforço e diz quanto cabe na sprint. Ninguém de fora estima pela equipe.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71216"/>
            <a:ext cx="82296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2871216"/>
            <a:ext cx="45720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85216" y="2889504"/>
            <a:ext cx="1143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19656" y="293522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Facilitador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819656" y="3145536"/>
            <a:ext cx="6720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Conduz as reuniões, protege a sprint de mudanças de escopo no meio do caminho e remove impedimentos.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657600"/>
            <a:ext cx="8229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45720" cy="1078992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21792" y="3749040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disciplina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" y="4041648"/>
            <a:ext cx="79004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é a coordenação do curso, representada pelo briefing do projeto e pelo docente em sala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exerce o papel de Product Owner: ordena o backlog e justifica a ordem a partir do briefing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facilitador já existe na equipe e roda a cada etapa, como definido na proposta do projeto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hierarquia do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processo Agile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Epic, Feature, User Story e Task: quatro níveis, quatro horizontes de tempo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níveis, quatro horizontes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nível de um item é determinado pelo tamanho do resultado, não pela dificuldade técnica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5720" cy="676656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5216" y="1133856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19656" y="117957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amplo do produto  ·  meses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19656" y="1389888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várias Features em torno de um mesmo resultado de negócio. Poucos por projeto — tipicamente de dois a quatro.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1901952"/>
            <a:ext cx="45720" cy="676656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85216" y="192024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19656" y="1965960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coerente de histórias  ·  semanas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819656" y="2176272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 de funcionalidade que faz sentido anunciar para quem usa. Agrupa histórias relacionadas.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2688336"/>
            <a:ext cx="45720" cy="676656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85216" y="2706624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Story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819656" y="275234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entregável em uma sprint  ·  dias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819656" y="2962656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que um usuário identificável consegue fazer ao final. É o nível que a equipe leva para a sprint.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45720" cy="676656"/>
          </a:xfrm>
          <a:prstGeom prst="rect">
            <a:avLst/>
          </a:prstGeom>
          <a:solidFill>
            <a:srgbClr val="3A7CA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85216" y="34930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19656" y="3538728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técnico de horas  ·  horas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19656" y="3749040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decomposição de uma história em passos de execução. Sempre filha de uma história; nunca vive sozinha.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4297680"/>
            <a:ext cx="45720" cy="566928"/>
          </a:xfrm>
          <a:prstGeom prst="rect">
            <a:avLst/>
          </a:prstGeom>
          <a:solidFill>
            <a:srgbClr val="F4A26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21792" y="4425696"/>
            <a:ext cx="7900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tipo Bug também existe no processo Agile. Nesta disciplina ele só será usado a partir da etapa de implementação </a:t>
            </a: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pt-BR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atividade, trabalhamos apenas com</a:t>
            </a:r>
            <a:r>
              <a:rPr lang="en-US" sz="105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níveis acima.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 que nível este item entra?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perguntas resolvem a maioria dos casos duvidosos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15568"/>
          <a:ext cx="8229600" cy="268833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 resposta for…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item é…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percebe o resultado?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pessoa usando o sistema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percebe o resultado?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quem programa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Cabe em uma sprint?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Não, leva semanas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Cabe em uma sprint?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Não, atravessa o semestre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valor sozinho?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isolado já é útil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valor sozinho?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Não, só junto com outros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ou 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04164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a tabela de usuários no banco" falha na primeira pergunta: ninguém que usa o sistema percebe esse resultado — é Task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Exemplo de outro domínio: PedeJá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de pedidos de um restaurante de bairro que hoje anota pedidos por telefone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834640"/>
          </a:xfrm>
          <a:prstGeom prst="roundRect">
            <a:avLst>
              <a:gd name="adj" fmla="val 1935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HIERARQUIA COMPLETA DE UM RAMO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790041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EPIC      Pedido feito pelo cliente sem ligação telefônica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 FEATURE   Montagem do pedido pelo aplicativo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├─ USER STORY  Como cliente, quero adicionar um item ao carrinho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        para montar meu pedido antes de fechar a compra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├─ TASK  Modelar carrinho e itens no banco        (4h)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├─ TASK  Endpoint de inclusão de item            (5h)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├─ TASK  Tela de listagem com botão adicionar    (6h)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      └─ TASK  Testes dos casos de borda do carrinho   (3h)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└─ USER STORY  Como cliente, quero remover um item do carrinho…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FEATURE   Acompanhamento do pedido em preparo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407822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457200" y="40782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quatro Tasks juntas somam 18 horas e entregam uma única história — nenhuma delas, sozinha, é útil para o cliente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mesmo raciocínio no Connexa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ramo ilustrativo — a hierarquia da sua equipe nasce do briefing, não deste slide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286000"/>
          </a:xfrm>
          <a:prstGeom prst="roundRect">
            <a:avLst>
              <a:gd name="adj" fmla="val 2400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RAMO ILUSTRATIVO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79004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EPIC      Estudante encontra um grupo de estudo compatível sem depender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de conhecer alguém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├─ FEATURE   Perfil de disponibilidade do estudante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├─ USER STORY  Como estudante, quero declarar meus horários livres…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    └─ USER STORY  Como estudante, quero indicar as disciplinas que curso…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│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└─ FEATURE   Descoberta de grupos abertos</a:t>
            </a:r>
            <a:endParaRPr lang="en-US" sz="11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└─ USER STORY  Como ingressante, quero ver os grupos da minha disciplina…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29584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57200" y="3529584"/>
            <a:ext cx="45720" cy="1060704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21792" y="3621024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vem cada nível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" y="3913632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Epic: dos objetivos declarados pela instituição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Feature: dos territórios dentro do escopo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Story: das falas dos envolvidos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9744" y="3529584"/>
            <a:ext cx="420624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809744" y="3529584"/>
            <a:ext cx="45720" cy="106070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974336" y="3621024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74336" y="3913632"/>
            <a:ext cx="3877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copie este ramo: ele é um exemplo, não um gabarito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fora do escopo declarado não entram no backlog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em aberto no briefing vira decisão registrada, não suposição silenciosa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Três erros de nível que se repetem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e como corrigir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55448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que é, na verdade, uma tela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Errado: "Epic — Tela de login"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Certo: vira User Story dentro de uma Feature de acesso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Sinal: o item cabe em dias, não em meses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55448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que é uma camada técnica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Errado: "Criar o banco de dados do sistema"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Certo: vira Task de uma história que entrega valor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Sinal: só quem programa percebe o resultado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798064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98064"/>
            <a:ext cx="45720" cy="155448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9077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órfã, sem história-mãe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Errado: Task solta no backlog do produto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Certo: toda Task pendura em uma User Story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Sinal: aparece no grupo "Unparented" do Taskboard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798064"/>
            <a:ext cx="45720" cy="155448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90779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teste único que evita os três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200400"/>
            <a:ext cx="37307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 frase: "ao final, alguém consegue…"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"alguém" for a própria equipe, o item é Task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frase não fecha, o item ainda é grande demais</a:t>
            </a:r>
            <a:endParaRPr lang="en-US" sz="10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 estados do processo Agile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é diferente do processo Scrum — no Agile, User Story passa por Resolved antes de Closed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1243584"/>
          </a:xfrm>
          <a:prstGeom prst="roundRect">
            <a:avLst>
              <a:gd name="adj" fmla="val 4412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88720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FLUXO DE ESTADOS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426464"/>
            <a:ext cx="7900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Story    New  →  Active  →  Resolved  →  Closed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         New  →  Active  →  Closed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Qualquer um   →  Removed   (descartado sem ser feito, mas com histórico preservado)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23744"/>
          <a:ext cx="8229600" cy="15544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significa na disciplina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move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registrado no backlog, ainda não iniciado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cria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Alguém está trabalhando nele agora, dentro da sprint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assume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Resolved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Trabalho concluído, aguardando verificação dos critérios de aceite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executou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Closed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Critérios de aceite verificados e Definition of Done atendido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Guardião da qualidade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062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57200" y="42062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para Closed sem verificar os critérios de aceite é o atalho que a etapa de verificação vai cobrar depois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Histórias de usuário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 funcionam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forma da história, o teste INVEST e critérios de aceite verificáveis em Gherkin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forma da história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lacunas obrigatórias — a terceira é a que costuma ser esquecida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225296"/>
            <a:ext cx="79004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 &lt;papel&gt;,  quero  &lt;ação&gt;,  para  &lt;benefício&gt;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A71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quem usa       o que faz      por que importa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31136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2231136"/>
            <a:ext cx="45720" cy="73152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85216" y="2249424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&lt;papel&gt;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65376" y="2295144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papel específico, não "o usuário"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865376" y="2505456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Connexa há pelo menos quatro papéis distintos: ingressante, estudante trabalhador, monitor e coordenação. Trocar o papel muda a história.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72384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457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85216" y="309067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&lt;ação&gt;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65376" y="3136392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capacidade, não uma solução de tela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65376" y="3346704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"Quero ver os grupos compatíveis" descreve a capacidade; "quero um dropdown com filtro" já decide a interface e fecha o espaço de solução.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45720" cy="73152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85216" y="3931920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&lt;benefício&gt;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65376" y="3977640"/>
            <a:ext cx="6675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motivo — a parte que permite priorizar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865376" y="4187952"/>
            <a:ext cx="6675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"para", não há como comparar valor entre duas histórias. Se o benefício não se escreve, provavelmente o item não deveria existir.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590288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57200" y="45902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texto da história vai no campo Description do work item; o título é a versão curta, sem o "Como…, quero…"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Antes e depois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reescritas — a primeira no domínio do PedeJá, a segunda no Connexa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42062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5720" cy="175564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estava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63040"/>
            <a:ext cx="38770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"Tela de cupom"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diz quem usa, nem o que consegue fazer, nem por quê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Connexa: "Filtro de horário"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Nomeia um componente de interface, não um resultado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09744" y="1078992"/>
            <a:ext cx="420624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78992"/>
            <a:ext cx="45720" cy="175564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ficou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63040"/>
            <a:ext cx="38770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cliente cadastrado, quero aplicar um cupom válido ao meu pedido, para pagar menos sem precisar ligar para o restaurante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estudante do noturno, quero ver apenas os grupos que se encontram no meu horário livre, para não entrar em um grupo ao qual não conseguirei comparecer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80944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980944"/>
            <a:ext cx="45720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21792" y="3072384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reescrita mudou na prática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" y="3364992"/>
            <a:ext cx="790041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Apareceu um papel específico — e com ele, a possibilidade de perguntar a alguém se a história está certa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Apareceu um benefício verificável — o critério de aceite agora tem o que verificar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Sumiu a decisão de interface — a equipe continua livre para resolver com lista, filtro ou sugestão automática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ficou maior em texto e menor em ambiguidade: é essa a troca que interessa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teste INVEST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atributos de uma história pronta para entrar em uma sprint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07008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070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52144" y="1216152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2144" y="144475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feita sem depender da ordem de outra história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54880" y="1207008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1207008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40096" y="1216152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40096" y="144475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o quê, não o como; o detalhe se combina na conversa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57200" y="1993392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103120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1031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52144" y="2112264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" y="234086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identificável ganha algo quando ela fica pronta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4645152" y="1993392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754880" y="2103120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754880" y="210312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40096" y="2112264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0096" y="234086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consegue dizer um tamanho; se não consegue, falta informação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57200" y="2889504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2999232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2999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152144" y="3008376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152144" y="3236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confortavelmente em uma sprint, com folga para verificação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4645152" y="2889504"/>
            <a:ext cx="4041648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4754880" y="2999232"/>
            <a:ext cx="457200" cy="530352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754880" y="2999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340096" y="3008376"/>
            <a:ext cx="32186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40096" y="3236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8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um critério objetivo que diz se está pronta ou não</a:t>
            </a:r>
            <a:endParaRPr lang="en-US" sz="1080" dirty="0"/>
          </a:p>
        </p:txBody>
      </p:sp>
      <p:sp>
        <p:nvSpPr>
          <p:cNvPr id="35" name="Shape 33"/>
          <p:cNvSpPr/>
          <p:nvPr/>
        </p:nvSpPr>
        <p:spPr>
          <a:xfrm>
            <a:off x="457200" y="3858768"/>
            <a:ext cx="82296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457200" y="3858768"/>
            <a:ext cx="45720" cy="87782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621792" y="3950208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usar o teste na prática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21792" y="4242816"/>
            <a:ext cx="7900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apenas às histórias do topo do backlog — as que entram na próxima sprint ou na seguinte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em E ou S quase sempre significa que a história precisa ser quebrada, não reescrita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Fatia vertical, não camada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entre entregar um pedaço de tudo e entregar tudo de um pedaço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420624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5720" cy="239572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por camada  (não funciona)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" y="1572768"/>
            <a:ext cx="3694176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13232" y="157276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3232" y="2121408"/>
            <a:ext cx="3694176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13232" y="212140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de negócio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3232" y="2670048"/>
            <a:ext cx="3694176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713232" y="267004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13232" y="3072384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fim da sprint: três partes prontas, nada utilizável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09744" y="1078992"/>
            <a:ext cx="420624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809744" y="1078992"/>
            <a:ext cx="45720" cy="23957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74336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por fatia  (funciona)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65776" y="1572768"/>
            <a:ext cx="1097280" cy="1426464"/>
          </a:xfrm>
          <a:prstGeom prst="rect">
            <a:avLst/>
          </a:prstGeom>
          <a:solidFill>
            <a:srgbClr val="E8F8F3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065776" y="1572768"/>
            <a:ext cx="10972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1097280" cy="1426464"/>
          </a:xfrm>
          <a:prstGeom prst="rect">
            <a:avLst/>
          </a:prstGeom>
          <a:solidFill>
            <a:srgbClr val="E8F8F3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309360" y="1572768"/>
            <a:ext cx="10972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52944" y="1572768"/>
            <a:ext cx="1097280" cy="1426464"/>
          </a:xfrm>
          <a:prstGeom prst="rect">
            <a:avLst/>
          </a:prstGeom>
          <a:solidFill>
            <a:srgbClr val="E8F8F3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7552944" y="1572768"/>
            <a:ext cx="10972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65776" y="3072384"/>
            <a:ext cx="3694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fatia atravessa as três camadas e já é utilizável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21024"/>
            <a:ext cx="82296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3621024"/>
            <a:ext cx="45720" cy="932688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21792" y="3749040"/>
            <a:ext cx="79004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fatia vertical permite mostrar resultado ao cliente ao fim da primeira sprint — a divisão por camada, não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pt-BR" sz="11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vale especialmente para o topo do backlog: uma fatia</a:t>
            </a:r>
            <a:r>
              <a:rPr lang="en-US" sz="11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estreita e completa vale mais que três camadas pela metade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Critérios de aceite em Gherkin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obrigatório na disciplina — vai no campo Acceptance Criteria do work item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60704"/>
            <a:ext cx="5074920" cy="3108960"/>
          </a:xfrm>
          <a:prstGeom prst="roundRect">
            <a:avLst>
              <a:gd name="adj" fmla="val 1765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21792" y="1152144"/>
            <a:ext cx="4745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PEDEJÁ — HISTÓRIA DO CUPOM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1792" y="1389888"/>
            <a:ext cx="474573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Cenário: cupom válido aplicado ao pedido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Dado que o pedido tem valor de R$ 60,00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que o cupom BEMVINDO10 está ativo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Quando o cliente aplica o cupom BEMVINDO10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Então o total exibido passa a ser R$ 54,00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Cenário: cupom expirado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Dado que o cupom FERIAS20 expirou ontem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Quando o cliente aplica o cupom FERIAS20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Então o total permanece inalterado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a mensagem "cupom expirado" é exibida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Cenário: valor mínimo não atingido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Dado que o cupom exige pedido acima de R$ 40,00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 que o pedido tem valor de R$ 25,00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Quando o cliente aplica o cupom</a:t>
            </a:r>
            <a:endParaRPr lang="en-US" sz="9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Então o cupom é recusado com o motivo informado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78424" y="1060704"/>
            <a:ext cx="33375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5678424" y="1060704"/>
            <a:ext cx="45720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843016" y="115214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estrutura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43016" y="1444752"/>
            <a:ext cx="300837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— o estado do mundo antes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— a ação de quem usa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 — o resultado observável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encadeia condições ou resultados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678424" y="2651760"/>
            <a:ext cx="333756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5678424" y="2651760"/>
            <a:ext cx="45720" cy="15179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843016" y="2743200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da disciplina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3016" y="3035808"/>
            <a:ext cx="300837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três a seis cenários por história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incluir ao menos um caminho de exceção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concretos, não "um valor qualquer"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referência a tabela, classe ou endpoint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457200" y="426110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57200" y="426110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bem escrito hoje vira caso de teste automatizado na etapa de verificação — é o mesmo texto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Critérios que não servem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padrões recusados na correção, com a versão corrigida ao lado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8346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Padrão recusado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 sistema deve funcionar corretamente"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Nomear o resultado observável e o valor esperado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Testa implementação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"Então um registro é inserido na tabela grupos"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"Então o grupo aparece na lista do estudante"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Repete o título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"Então o estudante consegue entrar no grupo"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Descrever o efeito visível: o que muda na tela e no estado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caminho feliz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cenários, todos com dados válidos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recusa, limite e dado ausente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1363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39136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rápido: se duas pessoas podem discordar sobre o critério ter sido atendido, ele ainda não está pronto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Quebrando uma história grande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padrões de divisão — todos preservam a fatia vertical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115568"/>
            <a:ext cx="457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85216" y="113385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911096" y="1179576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passo do fluxo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911096" y="1389888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grupo · entrar no grupo · sair do grupo — cada passo vira uma história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764792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1764792"/>
            <a:ext cx="45720" cy="5486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85216" y="178308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PERFIL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11096" y="1828800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tipo de usuário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911096" y="2039112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 ingressante, depois o estudante trabalhador; a regra muda com o perfil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2414016"/>
            <a:ext cx="45720" cy="5486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85216" y="24323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REGRA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911096" y="2478024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regra de negócio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11096" y="2688336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direto agora; aprovação por integrante em uma história seguinte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45720" cy="548640"/>
          </a:xfrm>
          <a:prstGeom prst="rect">
            <a:avLst/>
          </a:prstGeom>
          <a:solidFill>
            <a:srgbClr val="3A7CA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85216" y="308152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A7C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911096" y="3127248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variação de dado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11096" y="3337560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presencial primeiro; encontro remoto como história separada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712464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3712464"/>
            <a:ext cx="457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85216" y="373075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EXCEÇÃO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911096" y="3776472"/>
            <a:ext cx="6629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caminho feliz e as exceções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911096" y="3986784"/>
            <a:ext cx="6629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principal em uma história; recusas, limites e conflitos em outra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4439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4439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nunca é padrão de divisão: separar frontend de backend, ou tela de banco de dados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Ordenar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 dimensionar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MoSCoW, valor × esforço e estimativa relativa em Story Points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Ordenar não é etiquetar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do backlog é a decisão; a etiqueta apenas comunica o raciocínio por trás dela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20624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536192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81328"/>
            <a:ext cx="38770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sequência real dos itens na página de backlog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Azure Boards, arrastar o item grava o campo Backlog Priority — não existe empate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Responde: se a equipe só conseguir fazer três coisas, quais são?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09744" y="1097280"/>
            <a:ext cx="4206240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97280"/>
            <a:ext cx="45720" cy="153619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88720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etiqueta MoSCoW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81328"/>
            <a:ext cx="387705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Tag no work item, usada para filtrar e conversar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 a natureza do compromisso: obrigatório, importante, desejável, descartado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substitui a ordem: dez itens "Must" ainda precisam de uma sequência entre si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61488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61488"/>
            <a:ext cx="45720" cy="51206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85216" y="2779776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1º critério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819656" y="282549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para quem usa e para a instituição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819656" y="3035808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o item aproxima o produto do resultado declarado no briefing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364992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57200" y="3364992"/>
            <a:ext cx="45720" cy="512064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85216" y="338328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2º critério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819656" y="3429000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e incerteza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819656" y="3639312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que testam a suposição mais arriscada sobem: errar cedo custa menos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968496"/>
            <a:ext cx="82296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3968496"/>
            <a:ext cx="45720" cy="51206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85216" y="3986784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3º critério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19656" y="4032504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Dependência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819656" y="4242816"/>
            <a:ext cx="6720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é pré-requisito real de B, A vem antes — mas desconfie de dependências inventadas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57200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 é decisão de quem representa o cliente; tamanho é decisão de quem constrói — nunca troque os papéis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MoSCoW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níveis de compromisso — exemplos no domínio do PedeJá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46304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 ·  sem isso não há produto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faltar, a entrega não faz sentido nenhum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fechar um pedido e enviá-lo à cozinha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prático</a:t>
            </a:r>
            <a:r>
              <a:rPr lang="en-US" sz="108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pt-BR" sz="108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60% do esforço total do backlog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46304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 ·  importante, mas contornável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Dói ficar sem, mas existe alternativa temporária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acompanhar o status do pedido em tempo real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assim que os Must estiverem seguros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706624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06624"/>
            <a:ext cx="45720" cy="146304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81635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 ·  desejável se sobrar espaço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108960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Melhora a experiência, não sustenta o resultado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salvar pedidos favoritos para repetir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primeiro a sair quando a sprint aperta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645152" y="2706624"/>
            <a:ext cx="404164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706624"/>
            <a:ext cx="45720" cy="1463040"/>
          </a:xfrm>
          <a:prstGeom prst="rect">
            <a:avLst/>
          </a:prstGeom>
          <a:solidFill>
            <a:srgbClr val="F4A26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816352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 ·  fora deste ciclo, por decisão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108960"/>
            <a:ext cx="3730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 conscientemente, com registro do motivo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PedeJá: programa de pontos e fidelidade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 não é "nunca": é "não agora"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57200" y="427939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7200" y="427939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Azure Boards, MoSCoW é registrado como Tag: Must, Should, Could ou Wont — sem apóstrofo, para permitir filtro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× esforço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leitura rápida quando duas histórias parecem igualmente importantes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45720" cy="142646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valor · baixo esforço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499616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primeiro, sem discussão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pt-BR" sz="108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o topo do backlog deve concentrar o escopo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Connexa: ver a lista de grupos abertos da disciplina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45152" y="1097280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5720" cy="1426464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828032" y="120700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valor · alto esforço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28032" y="1499616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Quebre em fatias menores antes de agendar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couber quebrado, exige mais de uma sprint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Connexa: sugestão automática por compatibilidade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670048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670048"/>
            <a:ext cx="45720" cy="1426464"/>
          </a:xfrm>
          <a:prstGeom prst="rect">
            <a:avLst/>
          </a:prstGeom>
          <a:solidFill>
            <a:srgbClr val="5A7184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640080" y="27797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valor · baixo esforço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3072384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só quando houver folga real na sprint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justifica deslocar um item de alto valor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4645152" y="2670048"/>
            <a:ext cx="4041648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4645152" y="2670048"/>
            <a:ext cx="45720" cy="142646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4828032" y="27797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valor · alto esforço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28032" y="3072384"/>
            <a:ext cx="3730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faça neste ciclo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como Wont e registre o motivo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quadrante que mais consome sprint de estudante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esforço só entra na conversa depois da estimativa — priorizar por "parece fácil" é chute disfarçado de critério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Estimativa relativa e Story Points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é mais confiável que cronometrar — sobretudo em equipe sem histórico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8992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8992"/>
            <a:ext cx="45720" cy="137160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estimar em horas a história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1792" y="1463040"/>
            <a:ext cx="3877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diferentes levam tempos diferentes na mesma história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"Quatro horas" vira compromisso e pressão; ninguém quer errar publicamente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sabe estimar bem é comparação, não duração absoluta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09744" y="1078992"/>
            <a:ext cx="4206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809744" y="1078992"/>
            <a:ext cx="45720" cy="1371600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74336" y="1170432"/>
            <a:ext cx="3877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ponto mede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463040"/>
            <a:ext cx="38770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trabalho, complexidade e incerteza, juntos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em relação a uma história de referência escolhida pela equipe</a:t>
            </a:r>
            <a:endParaRPr lang="en-US" sz="108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08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é da equipe: comparar pontos entre equipes não significa nada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596896"/>
            <a:ext cx="8229600" cy="1060704"/>
          </a:xfrm>
          <a:prstGeom prst="roundRect">
            <a:avLst>
              <a:gd name="adj" fmla="val 5172"/>
            </a:avLst>
          </a:prstGeom>
          <a:solidFill>
            <a:srgbClr val="1A233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21792" y="2688336"/>
            <a:ext cx="7900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ESCALA DE FIBONACCI  ·  A DISTÂNCIA CRESCE PORQUE A INCERTEZA CRESCE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1792" y="2926080"/>
            <a:ext cx="7900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1     2     3     5     8     13     21</a:t>
            </a:r>
            <a:endParaRPr lang="en-US" sz="13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D0E1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trivial    referência    grande    quebrar antes de planejar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822960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457200" y="3785616"/>
            <a:ext cx="45720" cy="950976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21792" y="3877056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escolher a história de referência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" y="4169664"/>
            <a:ext cx="7900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Pegue uma história pequena, bem entendida por todos, e chame-a de 3 pontos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demais são estimadas por comparação com ela: metade do trabalho é 1 ou 2; o dobro é 5 ou 8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 Poker em cinco passos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Vinte minutos bem gastos evitam uma sprint inteira mal dimensionada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16152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52144" y="1188720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a história e os critérios de aceite em voz alta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52144" y="1399032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escreveu a história esclarece dúvidas; ninguém estima o que não entendeu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37944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920240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920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52144" y="1892808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escolhe um valor em silêncio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52144" y="2103120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Silêncio é essencial: o primeiro número dito em voz alta ancora todos os outros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42032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624328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6243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" y="2596896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Revelar simultaneamente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2144" y="2807208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todos convergirem, registre o valor e siga para a próxima história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328416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3284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52144" y="3300984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Discutir apenas os extremos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52144" y="3511296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deu o menor e quem deu o maior explicam o que enxergaram — é aqui que aparece o requisito esquecido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4032504"/>
            <a:ext cx="438912" cy="438912"/>
          </a:xfrm>
          <a:prstGeom prst="roundRect">
            <a:avLst>
              <a:gd name="adj" fmla="val 10417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40325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52144" y="4005072"/>
            <a:ext cx="7388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Reestimar uma vez e fechar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52144" y="4215384"/>
            <a:ext cx="7388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Persistindo a divergência, adote o maior valor e registre a dúvida no item; não gaste uma terceira rodada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 vale mais que o número: quando duas pessoas divergem muito, elas entenderam a história de formas diferentes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PARTE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RA-01 — montar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Product Backlog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2788920"/>
            <a:ext cx="8229600" cy="32004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2971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 no Azure Boards, campos obrigatórios e critérios de avaliação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7635240" y="3406140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Onde cada coisa fica no Azure Boards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páginas dentro do menu Boards </a:t>
            </a:r>
            <a:r>
              <a:rPr lang="en-US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pt-BR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nesta atividade usaremos duas delas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07008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070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53312" y="1216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Items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53312" y="14447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plana de todos os itens do projeto, com filtros. Bom para achar algo perdido.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45152" y="1097280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754880" y="1207008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12070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BOARD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41264" y="1216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541264" y="14447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kanban das histórias, por estado. Usado durante a execução da sprint.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029968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139696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139696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353312" y="21488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53312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página desta atividade: </a:t>
            </a: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hierarquia, ordem e níveis Epics, Features e Stories.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45152" y="2029968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754880" y="2139696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754880" y="2139696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41264" y="21488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41264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Usada na etapa seguinte: </a:t>
            </a: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da sprint, Taskboard e capacidade da equipe.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2962656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3072384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307238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3081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53312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salvas sobre os itens. Útil para conferir a própria entrega antes de submeter.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45152" y="2962656"/>
            <a:ext cx="4041648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Shape 29"/>
          <p:cNvSpPr/>
          <p:nvPr/>
        </p:nvSpPr>
        <p:spPr>
          <a:xfrm>
            <a:off x="4754880" y="3072384"/>
            <a:ext cx="658368" cy="566928"/>
          </a:xfrm>
          <a:prstGeom prst="roundRect">
            <a:avLst>
              <a:gd name="adj" fmla="val 806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754880" y="307238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41264" y="308152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Plans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41264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de calendário entre equipes. Não será usada nesta etapa.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9867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Text 34"/>
          <p:cNvSpPr/>
          <p:nvPr/>
        </p:nvSpPr>
        <p:spPr>
          <a:xfrm>
            <a:off x="457200" y="39867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e Sprints mostram os mesmos itens sob recortes diferentes: o produto inteiro e a fatia da sprint corrente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Antes de criar: habilitar os três níveis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padrão, a equipe enxerga apenas o nível Stories — sem este ajuste, Epics e Features ficam invisíveis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34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207008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as configurações da equipe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88720" y="1417320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Settings  ›  Boards  ›  Team configuration  (ou o ícone de engrenagem na própria página de Backlogs)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9842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1956816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 aba Backlogs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88720" y="2167128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Epics, Features e Stories — os três níveis passam a aparecer no seletor da página de backlog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73405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734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2706624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quem tem acesso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88720" y="2916936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integrantes com nível Basic e o docente adicionado ao projeto, conforme a proposta do projeto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48386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4838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3456432"/>
            <a:ext cx="7351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 página Backlogs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88720" y="3666744"/>
            <a:ext cx="7351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  ›  Backlogs: confirmar que o seletor no alto da página oferece Epics, Features e Stories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462272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446227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seletor de nível fica no alto da página Backlogs: alterne entre Epics, Features e Stories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Criar a hierarquia, de cima para baixo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do maior para o menor: o vínculo pai-filho nasce pronto quando se cria pelo item pai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33856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1615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161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33856" y="1188720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o nível Epics na página Backlogs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33856" y="13990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de dois a quatro Epics com New Work Item; o título nomeia um resultado, não um módulo do sistema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1892808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33856" y="1865376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o Epic e adicionar Features filhas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33856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o sinal + à esquerda do Epic: a Feature já nasce vinculada como filha, sem passo extra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87168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56946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569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33856" y="2542032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 cada Feature e adicionar as User Stories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33856" y="27523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procedimento pelo sinal +; a história herda o vínculo com a Feature automaticamente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246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33856" y="3218688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Description e Acceptance Criteria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33856" y="34290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cada história e escrever a frase completa e os cenários em Gherkin; salvar com Save &amp; Close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22960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566928" y="3922776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" y="3922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33856" y="3895344"/>
            <a:ext cx="7406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vínculos errados pelo painel Mapping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33856" y="41056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options  ›  Mapping: arraste a história solta sobre a Feature correta para reparentá-la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517136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457200" y="451713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criado pelo botão geral, sem passar pelo pai, nasce órfão — e some da árvore quando o nível exibido muda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Campos obrigatórios na disciplina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incompleto não é contabilizado na correção — a verificação é automatizada</a:t>
            </a:r>
            <a:endParaRPr lang="en-US" sz="13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138823"/>
              </p:ext>
            </p:extLst>
          </p:nvPr>
        </p:nvGraphicFramePr>
        <p:xfrm>
          <a:off x="457200" y="1078992"/>
          <a:ext cx="8229600" cy="21132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Nível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Campos obrigatórios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Epic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· 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descrição cita a meta institucional e o ator beneficiado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Feature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· 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descrição declara o impacto esperado da funcionalidade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 Story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· Description · Acceptance Criteria · Story Points · Tag MoSCoW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descrição usa a forma "Como…, quero…, para…"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383280"/>
            <a:ext cx="822960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57200" y="3383280"/>
            <a:ext cx="45720" cy="9875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21792" y="3474720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opcionais que ajudam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79004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Area: Business para o que o usuário percebe, Architectural para trabalho de sustentação técnica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(1 a 4): útil como segundo eixo de leitura, sem substituir a ordem do backlog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To: só faz sentido a partir da sprint; no backlog do produto, deixe em branco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448056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57200" y="44805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Tags MoSCoW usam exatamente estas quatro grafias: Must, Should, Could, Wont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Ordenar, etiquetar e conferir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meia hora da atividade — é onde a maioria dos pontos se ganha ou se perde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52144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566928" y="123444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66928" y="12344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207008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por arrasto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07008" y="1417320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página Backlogs, arraste as histórias até que a sequência reflita a decisão da equipe; a posição é gravada automaticamente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566928" y="200253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66928" y="20025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7008" y="1975104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as Tags MoSCoW em lote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07008" y="2185416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Selecione várias histórias com Ctrl, clique com o botão direito e use Edit para aplicar a mesma tag de uma vez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566928" y="277063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66928" y="27706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7008" y="2743200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as colunas de conferência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207008" y="2953512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Options: adicionar Story Points, Tags e State — a conferência vira leitura de uma tela só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56432"/>
            <a:ext cx="82296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566928" y="35387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66928" y="35387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07008" y="3511296"/>
            <a:ext cx="7333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a consulta de verificação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207008" y="3721608"/>
            <a:ext cx="7333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Queries, filtrar User Story com Story Points vazio; o resultado precisa vir sem nenhuma linha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279392"/>
            <a:ext cx="8229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Shape 24"/>
          <p:cNvSpPr/>
          <p:nvPr/>
        </p:nvSpPr>
        <p:spPr>
          <a:xfrm>
            <a:off x="457200" y="4279392"/>
            <a:ext cx="45720" cy="566928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21792" y="4407408"/>
            <a:ext cx="7900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Repita a mesma consulta trocando o campo: Acceptance Criteria vazio, Description vazio e Tags vazio. Quatro consultas, quatro resultados vazios — a entrega está completa.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RA-01 — o que entregar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Prazo, escopo mínimo e forma de submissão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79500"/>
            <a:ext cx="8229600" cy="154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079500"/>
            <a:ext cx="50800" cy="15494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2300" y="1168400"/>
            <a:ext cx="7899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mínimo no Azure Boards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2300" y="1498600"/>
            <a:ext cx="3810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 4 Epics cobrindo os objetivos do briefing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8 Features distribuídas entre os Epics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 18 User Stories, todas filhas de alguma Feature</a:t>
            </a:r>
          </a:p>
        </p:txBody>
      </p:sp>
      <p:sp>
        <p:nvSpPr>
          <p:cNvPr id="12" name="Text 10"/>
          <p:cNvSpPr/>
          <p:nvPr/>
        </p:nvSpPr>
        <p:spPr>
          <a:xfrm>
            <a:off x="4635500" y="1498600"/>
            <a:ext cx="3886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das histórias com critérios de aceite em Gherkin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das histórias com Story Points e Tag MoSCoW</a:t>
            </a:r>
          </a:p>
          <a:p>
            <a:pPr marL="342900" indent="-342900">
              <a:spcAft>
                <a:spcPts val="900"/>
              </a:spcAft>
              <a:buSzPct val="100000"/>
              <a:buChar char="▪"/>
            </a:pPr>
            <a:r>
              <a:rPr lang="pt-BR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ordenado, sem empates de prioridade</a:t>
            </a:r>
          </a:p>
        </p:txBody>
      </p:sp>
      <p:sp>
        <p:nvSpPr>
          <p:cNvPr id="13" name="Shape 11"/>
          <p:cNvSpPr/>
          <p:nvPr/>
        </p:nvSpPr>
        <p:spPr>
          <a:xfrm>
            <a:off x="457200" y="2794000"/>
            <a:ext cx="82296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57200" y="2794000"/>
            <a:ext cx="50800" cy="736600"/>
          </a:xfrm>
          <a:prstGeom prst="rect">
            <a:avLst/>
          </a:prstGeom>
          <a:solidFill>
            <a:srgbClr val="065A8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84200" y="2908300"/>
            <a:ext cx="12827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5A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SUBMISSÃO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55800" y="2921000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Teams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55800" y="3149600"/>
            <a:ext cx="6578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pt-BR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projeto no Azure Boards com o docente já adicionado</a:t>
            </a:r>
          </a:p>
        </p:txBody>
      </p:sp>
      <p:sp>
        <p:nvSpPr>
          <p:cNvPr id="18" name="Shape 16"/>
          <p:cNvSpPr/>
          <p:nvPr/>
        </p:nvSpPr>
        <p:spPr>
          <a:xfrm>
            <a:off x="457200" y="3683000"/>
            <a:ext cx="8229600" cy="73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57200" y="3683000"/>
            <a:ext cx="50800" cy="736600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84200" y="3797300"/>
            <a:ext cx="12827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EQUIPE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55800" y="3810000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conjunto, registro individual visível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55800" y="4038600"/>
            <a:ext cx="6578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integrantes precisam ter criado ou editado itens: o histórico do work item é consultado na correção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558930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0E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57200" y="237744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a atividade será avaliada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com peso — o detalhamento completo </a:t>
            </a:r>
            <a:r>
              <a:rPr lang="en-US" sz="1300">
                <a:solidFill>
                  <a:srgbClr val="5A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no roteiro em Markdown</a:t>
            </a:r>
            <a:endParaRPr lang="en-US" sz="13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119087"/>
              </p:ext>
            </p:extLst>
          </p:nvPr>
        </p:nvGraphicFramePr>
        <p:xfrm>
          <a:off x="457200" y="1078992"/>
          <a:ext cx="8229600" cy="197510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se observa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Estrutura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Hierarquia correta, sem itens órfãos e sem erro de nível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 das histórias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completa, INVEST atendido, fatia vertical preservada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Critérios de aceite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Gherkin verificável, com caminho de exceção em toda história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Ordem justificada a partir do briefing, MoSCoW coerente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E1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529584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E1E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457200" y="3529584"/>
            <a:ext cx="45720" cy="91440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21792" y="3621024"/>
            <a:ext cx="7900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zera o critério correspondente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1792" y="39136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História sem critério de aceite preenchido não é contabilizada, conforme a proposta do projeto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pt-BR" sz="11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sem ordenação ou história sem estimativa invalidam o critério a que se referem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453542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457200" y="453542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roteiro RA-01 em Markdown detalha o que é exigido em cada etapa e os erros mais frequentes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070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fazer agora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755648"/>
            <a:ext cx="8229600" cy="27432"/>
          </a:xfrm>
          <a:prstGeom prst="rect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2"/>
          <p:cNvSpPr/>
          <p:nvPr/>
        </p:nvSpPr>
        <p:spPr>
          <a:xfrm>
            <a:off x="457200" y="196596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457200" y="1965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1965960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roteiro RA-01 em Markdown</a:t>
            </a: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equipe reunida, marcando o que não ficou claro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236829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57200" y="2368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4400" y="236829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os níveis Epics e Features nas configurações da equipe, antes de criar qualquer item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77063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457200" y="2770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14400" y="2770632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a hierarquia de cima para baixo e ordenar o backlog por decisão da equipe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7200" y="317296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3172968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Refinar as histórias do topo até que todas passem no teste INVEST e tenham critérios em Gherkin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7200" y="36957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etapa  </a:t>
            </a:r>
            <a:r>
              <a:rPr lang="en-US" sz="1200" i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pt-BR" sz="1200" i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e execução da Sprint 1, em roteiro próprio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CC36B8-F90B-4E1C-BE19-E21695E8450A}">
  <we:reference id="wa200010001" version="1.0.0.1" store="pt-BR" storeType="OMEX"/>
  <we:alternateReferences>
    <we:reference id="WA200010001" version="1.0.0.1" store="" storeType="OMEX"/>
  </we:alternateReferences>
  <we:properties>
    <we:property name="claude.fileId" value="&quot;85cf91d6-3bf1-40af-8803-1bd2ed065c0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1630</TotalTime>
  <Words>5994</Words>
  <Application>Microsoft Office PowerPoint</Application>
  <PresentationFormat>Apresentação na tela (16:9)</PresentationFormat>
  <Paragraphs>688</Paragraphs>
  <Slides>38</Slides>
  <Notes>38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Consolas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Boards — Product Backlog</dc:title>
  <dc:subject>Engenharia de Software — Projeto Connexa</dc:subject>
  <dc:creator>Prof. Claudio Nunes</dc:creator>
  <cp:lastModifiedBy>Claudio Nunes</cp:lastModifiedBy>
  <cp:revision>3</cp:revision>
  <dcterms:created xsi:type="dcterms:W3CDTF">2026-08-25T01:20:46Z</dcterms:created>
  <dcterms:modified xsi:type="dcterms:W3CDTF">2026-10-18T20:26:42Z</dcterms:modified>
</cp:coreProperties>
</file>